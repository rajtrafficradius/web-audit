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ea84ebde654086" /><Relationship Type="http://schemas.openxmlformats.org/officeDocument/2006/relationships/extended-properties" Target="/docProps/app.xml" Id="R8349761f03704641" /><Relationship Type="http://schemas.openxmlformats.org/officeDocument/2006/relationships/officeDocument" Target="/ppt/presentation.xml" Id="Rc679d884633844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3ab13524524e06"/>
  </p:sldMasterIdLst>
  <p:notesMasterIdLst>
    <p:notesMasterId xmlns:r="http://schemas.openxmlformats.org/officeDocument/2006/relationships" r:id="Rfd024929538549ee"/>
  </p:notesMasterIdLst>
  <p:sldIdLst>
    <p:sldId xmlns:r="http://schemas.openxmlformats.org/officeDocument/2006/relationships" id="256" r:id="R0b58eb7d66a84525"/>
    <p:sldId xmlns:r="http://schemas.openxmlformats.org/officeDocument/2006/relationships" id="257" r:id="R0096e47d0cf34530"/>
    <p:sldId xmlns:r="http://schemas.openxmlformats.org/officeDocument/2006/relationships" id="258" r:id="R06791d93b5d24024"/>
    <p:sldId xmlns:r="http://schemas.openxmlformats.org/officeDocument/2006/relationships" id="259" r:id="R40397387c6394b3f"/>
    <p:sldId xmlns:r="http://schemas.openxmlformats.org/officeDocument/2006/relationships" id="260" r:id="R26c2c98d5c8a4daa"/>
    <p:sldId xmlns:r="http://schemas.openxmlformats.org/officeDocument/2006/relationships" id="261" r:id="Rf41f185aa0054fb9"/>
    <p:sldId xmlns:r="http://schemas.openxmlformats.org/officeDocument/2006/relationships" id="262" r:id="R4a02c86b4c2c498a"/>
    <p:sldId xmlns:r="http://schemas.openxmlformats.org/officeDocument/2006/relationships" id="263" r:id="Rb8a89b8310a244c2"/>
    <p:sldId xmlns:r="http://schemas.openxmlformats.org/officeDocument/2006/relationships" id="264" r:id="R7a09d71f5e964f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c835003b9d4d06" /><Relationship Type="http://schemas.openxmlformats.org/officeDocument/2006/relationships/slideMaster" Target="/ppt/slideMasters/slideMaster1.xml" Id="Ra73ab13524524e06" /><Relationship Type="http://schemas.openxmlformats.org/officeDocument/2006/relationships/notesMaster" Target="/ppt/notesMasters/notesMaster1.xml" Id="Rfd024929538549ee" /><Relationship Type="http://schemas.openxmlformats.org/officeDocument/2006/relationships/presProps" Target="/ppt/presProps.xml" Id="Ree7792bb9cea4c05" /><Relationship Type="http://schemas.openxmlformats.org/officeDocument/2006/relationships/tableStyles" Target="/ppt/tableStyles.xml" Id="Rb67dc0e58f5c452d" /><Relationship Type="http://schemas.openxmlformats.org/officeDocument/2006/relationships/slide" Target="/ppt/slides/slide1.xml" Id="R0b58eb7d66a84525" /><Relationship Type="http://schemas.openxmlformats.org/officeDocument/2006/relationships/slide" Target="/ppt/slides/slide2.xml" Id="R0096e47d0cf34530" /><Relationship Type="http://schemas.openxmlformats.org/officeDocument/2006/relationships/slide" Target="/ppt/slides/slide3.xml" Id="R06791d93b5d24024" /><Relationship Type="http://schemas.openxmlformats.org/officeDocument/2006/relationships/slide" Target="/ppt/slides/slide4.xml" Id="R40397387c6394b3f" /><Relationship Type="http://schemas.openxmlformats.org/officeDocument/2006/relationships/slide" Target="/ppt/slides/slide5.xml" Id="R26c2c98d5c8a4daa" /><Relationship Type="http://schemas.openxmlformats.org/officeDocument/2006/relationships/slide" Target="/ppt/slides/slide6.xml" Id="Rf41f185aa0054fb9" /><Relationship Type="http://schemas.openxmlformats.org/officeDocument/2006/relationships/slide" Target="/ppt/slides/slide7.xml" Id="R4a02c86b4c2c498a" /><Relationship Type="http://schemas.openxmlformats.org/officeDocument/2006/relationships/slide" Target="/ppt/slides/slide8.xml" Id="Rb8a89b8310a244c2" /><Relationship Type="http://schemas.openxmlformats.org/officeDocument/2006/relationships/slide" Target="/ppt/slides/slide9.xml" Id="R7a09d71f5e964f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e122071e524f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3242626158463d" /><Relationship Type="http://schemas.openxmlformats.org/officeDocument/2006/relationships/notesMaster" Target="/ppt/notesMasters/notesMaster1.xml" Id="R86b0b75d91024d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2b4d52f60f49ef" /><Relationship Type="http://schemas.openxmlformats.org/officeDocument/2006/relationships/notesMaster" Target="/ppt/notesMasters/notesMaster1.xml" Id="Re72e77c4d27a4a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b25b11fc814a9d" /><Relationship Type="http://schemas.openxmlformats.org/officeDocument/2006/relationships/notesMaster" Target="/ppt/notesMasters/notesMaster1.xml" Id="Rf10a5796c3d840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b1388f2ea6407b" /><Relationship Type="http://schemas.openxmlformats.org/officeDocument/2006/relationships/notesMaster" Target="/ppt/notesMasters/notesMaster1.xml" Id="R911b51973f0844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45d4382d0842bc" /><Relationship Type="http://schemas.openxmlformats.org/officeDocument/2006/relationships/notesMaster" Target="/ppt/notesMasters/notesMaster1.xml" Id="R6082a1aca9584f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8fab36ea7f43b2" /><Relationship Type="http://schemas.openxmlformats.org/officeDocument/2006/relationships/notesMaster" Target="/ppt/notesMasters/notesMaster1.xml" Id="Rc6c454f0f67b4c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1018c3e4c84eaf" /><Relationship Type="http://schemas.openxmlformats.org/officeDocument/2006/relationships/notesMaster" Target="/ppt/notesMasters/notesMaster1.xml" Id="Rdd3da69530a94c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740a6c4e754812" /><Relationship Type="http://schemas.openxmlformats.org/officeDocument/2006/relationships/notesMaster" Target="/ppt/notesMasters/notesMaster1.xml" Id="R2d0c2c9974564d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a37685dcf741d5" /><Relationship Type="http://schemas.openxmlformats.org/officeDocument/2006/relationships/notesMaster" Target="/ppt/notesMasters/notesMaster1.xml" Id="R62dbe4f0d2c840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0815dcb404a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79031792754941" /><Relationship Type="http://schemas.openxmlformats.org/officeDocument/2006/relationships/slideLayout" Target="/ppt/slideLayouts/slideLayout1.xml" Id="R245ff69dbc9a4c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5ff69dbc9a4c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3213615d54e4e" /><Relationship Type="http://schemas.openxmlformats.org/officeDocument/2006/relationships/notesSlide" Target="/ppt/notesSlides/notesSlide1.xml" Id="R3fa7138b1c7c49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a64e1d57141f6" /><Relationship Type="http://schemas.openxmlformats.org/officeDocument/2006/relationships/chart" Target="/ppt/slides/charts/chart1.xml" Id="R8772e06f86984760" /><Relationship Type="http://schemas.openxmlformats.org/officeDocument/2006/relationships/notesSlide" Target="/ppt/notesSlides/notesSlide2.xml" Id="R8796fae91e874f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e24f7f5b34cb1" /><Relationship Type="http://schemas.openxmlformats.org/officeDocument/2006/relationships/notesSlide" Target="/ppt/notesSlides/notesSlide3.xml" Id="Rd087452ae79b40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64f64c6d54288" /><Relationship Type="http://schemas.openxmlformats.org/officeDocument/2006/relationships/notesSlide" Target="/ppt/notesSlides/notesSlide4.xml" Id="R8458ce678a024f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81a0a50804d0e" /><Relationship Type="http://schemas.openxmlformats.org/officeDocument/2006/relationships/notesSlide" Target="/ppt/notesSlides/notesSlide5.xml" Id="Rfdd5247eac6448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1339a8cc54254" /><Relationship Type="http://schemas.openxmlformats.org/officeDocument/2006/relationships/notesSlide" Target="/ppt/notesSlides/notesSlide6.xml" Id="Rc8f35a6e4c8248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12033ab964d20" /><Relationship Type="http://schemas.openxmlformats.org/officeDocument/2006/relationships/notesSlide" Target="/ppt/notesSlides/notesSlide7.xml" Id="R9992d805342847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2d808b1824916" /><Relationship Type="http://schemas.openxmlformats.org/officeDocument/2006/relationships/notesSlide" Target="/ppt/notesSlides/notesSlide8.xml" Id="R03ddab1ae51f4a5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1b26449ee4150" /><Relationship Type="http://schemas.openxmlformats.org/officeDocument/2006/relationships/notesSlide" Target="/ppt/notesSlides/notesSlide9.xml" Id="Rd89cf990aa7d4e7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Score</c:v>
          </c:tx>
          <c:spPr>
            <a:solidFill xmlns:a="http://schemas.openxmlformats.org/drawingml/2006/main">
              <a:srgbClr val="3E4C83"/>
            </a:solidFill>
          </c:spPr>
          <c:cat>
            <c:strLit>
              <c:ptCount val="2"/>
              <c:pt idx="0">
                <c:v>Technical</c:v>
              </c:pt>
              <c:pt idx="1">
                <c:v>On Page</c:v>
              </c:pt>
            </c:strLit>
          </c:cat>
          <c:val>
            <c:numLit>
              <c:formatCode>General</c:formatCode>
              <c:ptCount val="2"/>
              <c:pt idx="0">
                <c:v>97.88</c:v>
              </c:pt>
              <c:pt idx="1">
                <c:v>99.04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D4C9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0">
              <a:noFill/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AC9B2-64E8-43A3-BD9B-AAFDEB73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0"/>
            <a:ext cx="413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885C4-FF74-41FD-8770-5D5CBF87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15C38"/>
                </a:solidFill>
              </a:defRPr>
            </a:pPr>
            <a:r>
              <a:rPr sz="975" b="1">
                <a:solidFill>
                  <a:srgbClr val="A15C38"/>
                </a:solidFill>
              </a:rPr>
              <a:t>ENTERPRISE SEO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50547-3F1F-4AFB-909A-B64EFB66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6667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201E"/>
                </a:solidFill>
              </a:defRPr>
            </a:pPr>
            <a:r>
              <a:rPr sz="4350" b="1">
                <a:solidFill>
                  <a:srgbClr val="17201E"/>
                </a:solidFill>
              </a:rPr>
              <a:t>Evidence first. Growth second.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2A549-7017-4543-8081-CD286186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6191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16D"/>
                </a:solidFill>
              </a:defRPr>
            </a:pPr>
            <a:r>
              <a:rPr sz="1650" b="0">
                <a:solidFill>
                  <a:srgbClr val="66716D"/>
                </a:solidFill>
              </a:rPr>
              <a:t>A fresh, approved-domain review of Kakawa Chocolates with a safe 16-week path from observed issues to controlled implementation.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952E2-757A-406D-AF55-7352366C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EFA"/>
                </a:solidFill>
              </a:defRPr>
            </a:pPr>
            <a:r>
              <a:rPr sz="2400" b="1">
                <a:solidFill>
                  <a:srgbClr val="FFFEFA"/>
                </a:solidFill>
              </a:rPr>
              <a:t>KAKAWA</a:t>
            </a:r>
          </a:p>
          <a:p xmlns:a="http://schemas.openxmlformats.org/drawingml/2006/main">
            <a:pPr algn="l">
              <a:defRPr sz="2400" b="1">
                <a:solidFill>
                  <a:srgbClr val="FFFEFA"/>
                </a:solidFill>
              </a:defRPr>
            </a:pPr>
            <a:r>
              <a:rPr sz="2400" b="1">
                <a:solidFill>
                  <a:srgbClr val="FFFEFA"/>
                </a:solidFill>
              </a:rPr>
              <a:t>CHOCOLATES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BAE4E-794F-41A2-8FFA-AE77D412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8D4C9"/>
                </a:solidFill>
              </a:defRPr>
            </a:pPr>
            <a:r>
              <a:rPr sz="1050" b="0">
                <a:solidFill>
                  <a:srgbClr val="D8D4C9"/>
                </a:solidFill>
              </a:rPr>
              <a:t>RUN</a:t>
            </a:r>
          </a:p>
          <a:p xmlns:a="http://schemas.openxmlformats.org/drawingml/2006/main">
            <a:pPr algn="l">
              <a:defRPr sz="1050" b="0">
                <a:solidFill>
                  <a:srgbClr val="D8D4C9"/>
                </a:solidFill>
              </a:defRPr>
            </a:pPr>
            <a:r>
              <a:rPr sz="1050" b="0">
                <a:solidFill>
                  <a:srgbClr val="D8D4C9"/>
                </a:solidFill>
              </a:rPr>
              <a:t>KAKAWA-ENT-20260715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D3057-8CC9-4F64-8270-704AE0A0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386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EFA"/>
                </a:solidFill>
              </a:defRPr>
            </a:pPr>
            <a:r>
              <a:rPr sz="1050" b="0">
                <a:solidFill>
                  <a:srgbClr val="FFFEFA"/>
                </a:solidFill>
              </a:rPr>
              <a:t>STATUS</a:t>
            </a:r>
          </a:p>
          <a:p xmlns:a="http://schemas.openxmlformats.org/drawingml/2006/main">
            <a:pPr algn="l">
              <a:defRPr sz="1050" b="0">
                <a:solidFill>
                  <a:srgbClr val="FFFEFA"/>
                </a:solidFill>
              </a:defRPr>
            </a:pPr>
            <a:r>
              <a:rPr sz="1050" b="0">
                <a:solidFill>
                  <a:srgbClr val="FFFEFA"/>
                </a:solidFill>
              </a:rPr>
              <a:t>PASS_FOR_REVIEW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D684A-AFDF-44A7-AEF1-C4E2AFFB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2937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8D4C9"/>
                </a:solidFill>
              </a:defRPr>
            </a:pPr>
            <a:r>
              <a:rPr sz="750" b="0">
                <a:solidFill>
                  <a:srgbClr val="D8D4C9"/>
                </a:solidFill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6889729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43BEA-A44C-45AA-A4D5-05CE5B36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CEF70-9D84-490A-B97D-C7DCB344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EVIDENCE POSTURE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40470-0E1E-46F0-8519-9075441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E885E-8475-4019-A734-BF129A07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F864BD-E49E-47BA-993B-0295CD85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02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BE9E4-6889-498E-B302-60934477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E"/>
                </a:solidFill>
              </a:defRPr>
            </a:pPr>
            <a:r>
              <a:rPr sz="3225" b="1">
                <a:solidFill>
                  <a:srgbClr val="17201E"/>
                </a:solidFill>
              </a:rPr>
              <a:t>A score is useful only when coverage earns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4FF46-AA4A-4674-AB2B-A982D810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4762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16D"/>
                </a:solidFill>
              </a:defRPr>
            </a:pPr>
            <a:r>
              <a:rPr sz="1425" b="0">
                <a:solidFill>
                  <a:srgbClr val="66716D"/>
                </a:solidFill>
              </a:rPr>
              <a:t>Weighted evidence coverage 35.0% is below the 70% publication threshold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676900" y="1066800"/>
          <a:ext xmlns:a="http://schemas.openxmlformats.org/drawingml/2006/main" cx="57150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72e06f86984760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07BC1-6154-4FDA-9DD5-607E935F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533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9A647-3DA4-40AE-81C8-EDDB018B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PUBLICATION RULE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5F2FA-8C1E-432C-840E-9565A1BA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Weighted evidence coverage 35.0% is below the 70% publication threshold</a:t>
            </a:r>
          </a:p>
        </p:txBody>
      </p:sp>
    </p:spTree>
    <p:extLst>
      <p:ext uri="{BB962C8B-B14F-4D97-AF65-F5344CB8AC3E}">
        <p14:creationId xmlns:p14="http://schemas.microsoft.com/office/powerpoint/2010/main" val="12317656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8D0537-BB29-4389-9423-AA4924E0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96CB0-D645-43B0-A406-4DEB5F80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WHAT WE KNOW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A8AFF-0BED-48D6-9799-EEF051FD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51B28-9E46-40ED-90A5-C31644B7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60667-E746-4BC4-B160-F2FBBBDD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03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88153-CA6F-4010-A345-4BE6D7E7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1E"/>
                </a:solidFill>
              </a:defRPr>
            </a:pPr>
            <a:r>
              <a:rPr sz="3450" b="1">
                <a:solidFill>
                  <a:srgbClr val="17201E"/>
                </a:solidFill>
              </a:rPr>
              <a:t>Public crawl evidence can guide technical and on-page work now.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37179-1847-4533-BB32-5791C3A6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D"/>
                </a:solidFill>
              </a:defRPr>
            </a:pPr>
            <a:r>
              <a:rPr sz="1500" b="0">
                <a:solidFill>
                  <a:srgbClr val="66716D"/>
                </a:solidFill>
              </a:rPr>
              <a:t>Private search, analytics, competitive and performance baselines remain unavailable.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C4F1AC-C632-4C71-8A1D-15D7C29E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76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5C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E22BD-46E6-4A6F-82F7-087F99D8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09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PAGES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A8297-295E-4F0D-AB42-8B2D0D60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357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0957E-46F0-4350-8223-0C22A283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499D60-760A-43D5-A902-4607E214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00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FINDINGS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41865-3EC4-4D54-9125-168B5032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384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0AD72F-AF10-4E89-AFC1-8C658856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DC97CE-9344-4EFC-AC27-756C202A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90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WRONG-DOMAIN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A8A553-4006-42E4-BF47-5D6BD0BB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290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F0EBAB-195A-492A-A45B-32D88446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482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6BBFF0-4F6F-4D9C-9CF3-2CA857D5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EXTERNAL CHANGES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99C817-29CE-4032-B480-1B02E4F4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196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None</a:t>
            </a:r>
          </a:p>
        </p:txBody>
      </p:sp>
    </p:spTree>
    <p:extLst>
      <p:ext uri="{BB962C8B-B14F-4D97-AF65-F5344CB8AC3E}">
        <p14:creationId xmlns:p14="http://schemas.microsoft.com/office/powerpoint/2010/main" val="11029404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F7DC8-D949-4CD5-9F5B-266FA632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D3570-E9F4-4AC3-8DFA-3B2928A7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FIRST MOVE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1D396-CA75-4D7F-AFDF-96FCA573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5741A-2B27-4053-A41C-E7E97C5D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FA665-E215-4B46-939A-01FE5E2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04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FCA69-4524-4C59-95BA-31A51F25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1E"/>
                </a:solidFill>
              </a:defRPr>
            </a:pPr>
            <a:r>
              <a:rPr sz="3450" b="1">
                <a:solidFill>
                  <a:srgbClr val="17201E"/>
                </a:solidFill>
              </a:rPr>
              <a:t>Stabilise the evidence and URL graph before expanding content.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24018-5735-41FC-9E1F-4BA86BCC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D"/>
                </a:solidFill>
              </a:defRPr>
            </a:pPr>
            <a:r>
              <a:rPr sz="1500" b="0">
                <a:solidFill>
                  <a:srgbClr val="66716D"/>
                </a:solidFill>
              </a:rPr>
              <a:t>Resolve deterministic crawl findings, validate canonicals and redirects, then re-crawl in staging.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C0909-0CE4-47DE-8FD5-A4FA9D68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76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5C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A4785-23F9-4684-B272-E0215150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09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P2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7ED6D-12CD-436D-8E41-1B785BA7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HTTP 404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BC961-F054-4ADA-97EB-2874BDDC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BFD84-AFDC-4A8A-9917-46D7E386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00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25BD9B-0FD1-4DEA-BAB5-5A7E4227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384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Missing primary heading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986D2F-1A46-4535-873E-A5651322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A42F1-38F0-457A-AA39-917B0A3B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90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P2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ED102-E75C-4192-B9DB-D4440AB3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290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Missing meta description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2D3D25-62DB-497D-8600-7274797A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482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11FBDA-708B-43D5-B232-EE6596E4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P2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467AB-1FC3-453B-8E18-D03B868D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196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Multiple primary headings</a:t>
            </a:r>
          </a:p>
        </p:txBody>
      </p:sp>
    </p:spTree>
    <p:extLst>
      <p:ext uri="{BB962C8B-B14F-4D97-AF65-F5344CB8AC3E}">
        <p14:creationId xmlns:p14="http://schemas.microsoft.com/office/powerpoint/2010/main" val="5974047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4F7E43-757E-45B0-B4BD-ADE2F0B7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12684-4D80-4213-B89F-3E0B82E4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CONTENT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91501-23E6-4E84-BF5F-C569EF5C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384191-57A0-4F58-A84B-77B55671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92C81-D2BB-42F1-9B14-D83618E8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05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05826-1052-46D3-8F52-2E32DEC4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1E"/>
                </a:solidFill>
              </a:defRPr>
            </a:pPr>
            <a:r>
              <a:rPr sz="3450" b="1">
                <a:solidFill>
                  <a:srgbClr val="17201E"/>
                </a:solidFill>
              </a:rPr>
              <a:t>Six distinct refreshes beat twenty padded drafts.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52811-09FE-4DBF-A0A0-244FE2B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D"/>
                </a:solidFill>
              </a:defRPr>
            </a:pPr>
            <a:r>
              <a:rPr sz="1500" b="0">
                <a:solidFill>
                  <a:srgbClr val="66716D"/>
                </a:solidFill>
              </a:rPr>
              <a:t>Each proposed asset maps to one existing target and remains withheld until human editorial approval.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9A7F8-AE22-442C-B2C3-26ED4415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76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5C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A5481-7347-4FF7-BBE5-967BAA46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09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CONTENT-01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F9A1D-1ECC-461A-B74E-7C2C2FC5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Sydney artisan chocolate shopping guide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D9B8D-56E9-49C4-909F-F46B137F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4F5081-306A-4826-A02B-E8C7322B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00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CONTENT-02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C0186E-D799-4CAC-8190-515DC199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384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Chocolate gift box selection guide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C057F-ACE5-4F3C-A79F-B3677DBB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B1F8B4-906B-4C52-8771-213F1B34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90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CONTENT-03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1AD99-7987-48FD-ACFF-743A6DDD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290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Chocolate bar collection guide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203FF-084E-41F2-97C1-E0070E4F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482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8636B6-744C-47A5-8627-3A4C3B66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CONTENT-04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EC7DF-8FA8-4FA1-B061-313347A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196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Praline and bonbon selection guide</a:t>
            </a:r>
          </a:p>
        </p:txBody>
      </p:sp>
    </p:spTree>
    <p:extLst>
      <p:ext uri="{BB962C8B-B14F-4D97-AF65-F5344CB8AC3E}">
        <p14:creationId xmlns:p14="http://schemas.microsoft.com/office/powerpoint/2010/main" val="5490438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1C1FB-3780-4CA2-810F-AE585853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D1541-8D17-4890-B0CF-9C6C1F4F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16-WEEK 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250C9-CCCE-4DA8-A669-7B872E5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8C657-D16C-413F-8827-42E6C74F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4A8BD-B447-43AA-A778-2C260F59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06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7986F-F8D9-4CAE-A49B-3CFB5F45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838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E"/>
                </a:solidFill>
              </a:defRPr>
            </a:pPr>
            <a:r>
              <a:rPr sz="3225" b="1">
                <a:solidFill>
                  <a:srgbClr val="17201E"/>
                </a:solidFill>
              </a:rPr>
              <a:t>Sequence removes risk from the critical path.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FA877-B219-4BEB-9E92-143C56D6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16D"/>
                </a:solidFill>
              </a:defRPr>
            </a:pPr>
            <a:r>
              <a:rPr sz="1425" b="0">
                <a:solidFill>
                  <a:srgbClr val="66716D"/>
                </a:solidFill>
              </a:rPr>
              <a:t>The canonical plan moves from evidence closure to technical stability, controlled expansion and proof.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DDFD9-4101-4213-8313-15CA2CA4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381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17201E"/>
          </a:solidFill>
          <a:ln xmlns:a="http://schemas.openxmlformats.org/drawingml/2006/main" w="9525">
            <a:solidFill>
              <a:srgbClr val="17201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A61E2-CFEE-429E-B2AE-99E6C266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15C38"/>
                </a:solidFill>
              </a:defRPr>
            </a:pPr>
            <a:r>
              <a:rPr sz="975" b="1">
                <a:solidFill>
                  <a:srgbClr val="A15C3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93B6B-DB87-4E88-A703-C8D21583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8D4C9"/>
                </a:solidFill>
              </a:defRPr>
            </a:pPr>
            <a:r>
              <a:rPr sz="900" b="1">
                <a:solidFill>
                  <a:srgbClr val="D8D4C9"/>
                </a:solidFill>
              </a:rPr>
              <a:t>Weeks 1–4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747F0-61ED-4DC1-82C3-AE7C11B9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EFA"/>
                </a:solidFill>
              </a:defRPr>
            </a:pPr>
            <a:r>
              <a:rPr sz="1800" b="1">
                <a:solidFill>
                  <a:srgbClr val="FFFEFA"/>
                </a:solidFill>
              </a:rPr>
              <a:t>Stabilise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3858B-EA48-4CBE-AA9E-4BFD68BF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8D4C9"/>
                </a:solidFill>
              </a:defRPr>
            </a:pPr>
            <a:r>
              <a:rPr sz="1125" b="0">
                <a:solidFill>
                  <a:srgbClr val="D8D4C9"/>
                </a:solidFill>
              </a:rPr>
              <a:t>Evidence closure, indexation controls, measurement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D1764-0637-4D46-A362-572842D6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52750"/>
            <a:ext cx="2381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E692F-980A-48FB-9338-F3BFD189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E4C83"/>
                </a:solidFill>
              </a:defRPr>
            </a:pPr>
            <a:r>
              <a:rPr sz="975" b="1">
                <a:solidFill>
                  <a:srgbClr val="3E4C83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A2EA33-B8D2-4DFC-9E8C-865201F4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Weeks 5–8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F3D4E-A740-4DCD-AD6F-437CCBFD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43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E"/>
                </a:solidFill>
              </a:defRPr>
            </a:pPr>
            <a:r>
              <a:rPr sz="1800" b="1">
                <a:solidFill>
                  <a:srgbClr val="17201E"/>
                </a:solidFill>
              </a:rPr>
              <a:t>Clarify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5B331-3BCD-4156-B43E-58F6CEFB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D"/>
                </a:solidFill>
              </a:defRPr>
            </a:pPr>
            <a:r>
              <a:rPr sz="1125" b="0">
                <a:solidFill>
                  <a:srgbClr val="66716D"/>
                </a:solidFill>
              </a:rPr>
              <a:t>Information architecture, templates, internal-link 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7F13F-2BAD-4410-810B-E7B649F3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52750"/>
            <a:ext cx="2381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147914-CB39-442C-845E-BD95FD62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432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E4C83"/>
                </a:solidFill>
              </a:defRPr>
            </a:pPr>
            <a:r>
              <a:rPr sz="975" b="1">
                <a:solidFill>
                  <a:srgbClr val="3E4C83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B3A59-EC7F-4A84-B9B8-E6335111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Weeks 9–12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B1DA5-C220-42AD-90ED-93AA7D95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E"/>
                </a:solidFill>
              </a:defRPr>
            </a:pPr>
            <a:r>
              <a:rPr sz="1800" b="1">
                <a:solidFill>
                  <a:srgbClr val="17201E"/>
                </a:solidFill>
              </a:rPr>
              <a:t>Expand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28A267-7BF5-41C0-B7B0-8FBE24B3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577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D"/>
                </a:solidFill>
              </a:defRPr>
            </a:pPr>
            <a:r>
              <a:rPr sz="1125" b="0">
                <a:solidFill>
                  <a:srgbClr val="66716D"/>
                </a:solidFill>
              </a:rPr>
              <a:t>Approved content opportunities and merchandising depth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8BDB3-5EDA-4DFE-9CC5-BDDACFD9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52750"/>
            <a:ext cx="2381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8B4324-EC57-4C32-BCC8-B46E693F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E4C83"/>
                </a:solidFill>
              </a:defRPr>
            </a:pPr>
            <a:r>
              <a:rPr sz="975" b="1">
                <a:solidFill>
                  <a:srgbClr val="3E4C83"/>
                </a:solidFill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E845B4-23E5-4694-95F4-31EA25A6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62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Weeks 13–16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2DF109-3AB7-4F7B-86F8-7D5499C4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43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E"/>
                </a:solidFill>
              </a:defRPr>
            </a:pPr>
            <a:r>
              <a:rPr sz="1800" b="1">
                <a:solidFill>
                  <a:srgbClr val="17201E"/>
                </a:solidFill>
              </a:rPr>
              <a:t>Prove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E13EE-9BBC-43B6-AF56-7D8D753A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577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D"/>
                </a:solidFill>
              </a:defRPr>
            </a:pPr>
            <a:r>
              <a:rPr sz="1125" b="0">
                <a:solidFill>
                  <a:srgbClr val="66716D"/>
                </a:solidFill>
              </a:rPr>
              <a:t>QA, measurement review, iteration and release evidence</a:t>
            </a:r>
          </a:p>
        </p:txBody>
      </p:sp>
    </p:spTree>
    <p:extLst>
      <p:ext uri="{BB962C8B-B14F-4D97-AF65-F5344CB8AC3E}">
        <p14:creationId xmlns:p14="http://schemas.microsoft.com/office/powerpoint/2010/main" val="8275715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DCCF5F-9353-4C96-AD8F-A8E264B5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14487-9622-470A-89CD-3CA1DB6B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MEASUREMENT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43F94-68A0-4A4A-8D08-DE883627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87E55-C1AC-4F35-B02D-C27A506E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5F4CF-5FBC-4A77-9F94-20F4201A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07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E5DCB-9F15-4BB5-949D-F707BF64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1E"/>
                </a:solidFill>
              </a:defRPr>
            </a:pPr>
            <a:r>
              <a:rPr sz="3450" b="1">
                <a:solidFill>
                  <a:srgbClr val="17201E"/>
                </a:solidFill>
              </a:rPr>
              <a:t>Connect first-party baselines before making outcome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9875A3-0A9E-49CF-82EA-59341B1F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D"/>
                </a:solidFill>
              </a:defRPr>
            </a:pPr>
            <a:r>
              <a:rPr sz="1500" b="0">
                <a:solidFill>
                  <a:srgbClr val="66716D"/>
                </a:solidFill>
              </a:rPr>
              <a:t>No traffic, ranking or revenue forecast is published from the public fixture.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EB6B1-E27B-427A-B6A8-21700261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76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5C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C5465-12B0-4E25-AC2A-08A687E0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09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GSC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7BC33-239B-43A4-8C8A-83DA6473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Unavailable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499AE-455B-47EC-BF95-3FF5FC16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8F90C-A233-48A2-8EF1-045CF236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00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GA4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7F687-18A1-4898-AE62-8A6B8853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384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Unavailable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790042-AE56-4BE3-B902-FEF238FC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376EC-D7AA-4B96-A644-8FAD26F6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90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SEMRUSH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D571B-8E80-457E-8FA9-2428E3EE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290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Unavailable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E581F-5810-4F9B-AEBC-8014E104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482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4D8611-D76E-4251-9A49-64744062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PAGESPEED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BCD5D-A101-43E7-871A-FBBF683D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196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Unavailable</a:t>
            </a:r>
          </a:p>
        </p:txBody>
      </p:sp>
    </p:spTree>
    <p:extLst>
      <p:ext uri="{BB962C8B-B14F-4D97-AF65-F5344CB8AC3E}">
        <p14:creationId xmlns:p14="http://schemas.microsoft.com/office/powerpoint/2010/main" val="1445719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2A6AE4-10CA-44A7-B126-357A0DC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83229-DB1F-4BF6-B116-BE065BF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NEGATIVE REGRESSION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FF8A9-BC23-469B-822E-92078362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D64B5-FD6A-4B05-91E4-EAC2E8C7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73CCC-56EE-4FA2-92E6-F229CEAC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08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DA2C2-ED47-4372-9375-D8943474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E"/>
                </a:solidFill>
              </a:defRPr>
            </a:pPr>
            <a:r>
              <a:rPr sz="3225" b="1">
                <a:solidFill>
                  <a:srgbClr val="17201E"/>
                </a:solidFill>
              </a:rPr>
              <a:t>v19 turns known v18 failure modes into release blockers.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B33FF-62AF-4118-A04F-DCFB1B52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D"/>
                </a:solidFill>
              </a:defRPr>
            </a:pPr>
            <a:r>
              <a:rPr sz="1350" b="0">
                <a:solidFill>
                  <a:srgbClr val="66716D"/>
                </a:solidFill>
              </a:rPr>
              <a:t>Domain safety, evidence lineage, approvals, reconciliations and checksums are enforced by machine-verifiable controls.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11963-824F-4EE6-A547-27C3CC3C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4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ED08B-705D-47CB-8D22-EC6EE329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343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EFA"/>
                </a:solidFill>
              </a:defRPr>
            </a:pPr>
            <a:r>
              <a:rPr sz="825" b="1">
                <a:solidFill>
                  <a:srgbClr val="FFFEFA"/>
                </a:solidFill>
              </a:rPr>
              <a:t>FAILURE MODE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3E07E-656D-450D-A4AF-1153D2A9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2415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4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38756-26BF-40CE-826A-57AC50F3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57500"/>
            <a:ext cx="472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EFA"/>
                </a:solidFill>
              </a:defRPr>
            </a:pPr>
            <a:r>
              <a:rPr sz="825" b="1">
                <a:solidFill>
                  <a:srgbClr val="FFFEFA"/>
                </a:solidFill>
              </a:rPr>
              <a:t>V19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223D6-EE97-4419-B4E6-03EAB0DD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241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4C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E6FB7-54B5-43D1-A06F-D0134E5C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57500"/>
            <a:ext cx="2247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EFA"/>
                </a:solidFill>
              </a:defRPr>
            </a:pPr>
            <a:r>
              <a:rPr sz="825" b="1">
                <a:solidFill>
                  <a:srgbClr val="FFFEFA"/>
                </a:solidFill>
              </a:rPr>
              <a:t>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7629D-448A-4B8A-945A-E9B36796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20D453-BA71-4CCF-B869-A5609325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.com domain contamination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0BE853-9C35-4A75-B9D5-5F6CBEF1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432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FB390B-DA03-4B6D-8C60-EB6EC27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3850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Approved-domain normalization plus manifest-wide URL scan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70E81F-5AB1-46D0-9CBE-6D63850E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FCF3F-C106-4FB5-9EAF-1020405A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57"/>
                </a:solidFill>
              </a:defRPr>
            </a:pPr>
            <a:r>
              <a:rPr sz="975" b="1">
                <a:solidFill>
                  <a:srgbClr val="2F6B57"/>
                </a:solidFill>
              </a:rPr>
              <a:t>PASS — 0 wrong-domain URL records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B07B8-E294-4ED1-8835-B40823AA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8487E-C9DE-4B0B-BC19-B344503E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Duplicate pages/files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EBE49-67C6-4A3D-A192-7DD4E02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957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920562-F1B9-4F2D-8BC1-39C693B2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9095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Canonical URL dedupe and SHA-256 duplicate rejection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991223-878C-4D9A-8C9C-5735B6A9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957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2FA65-30C7-42E9-87EC-13CFC909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909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57"/>
                </a:solidFill>
              </a:defRPr>
            </a:pPr>
            <a:r>
              <a:rPr sz="975" b="1">
                <a:solidFill>
                  <a:srgbClr val="2F6B57"/>
                </a:solidFill>
              </a:rPr>
              <a:t>PASS — 0 duplicate normalized pages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D45EF-F663-4EE7-A78A-B32F29C6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99AFE7-1E92-44AC-9D25-008A5791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Unsupported schema and disavow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F0A984-745B-46ED-A856-07785667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2481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AC8938-5AAF-47A4-9AAC-68F70B77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4340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Claim ledger, admin gate and disavow disabled by default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48721D-984B-4CDF-8027-6672D191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481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402BE5-1A92-496C-9DAB-821F2D68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4340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57"/>
                </a:solidFill>
              </a:defRPr>
            </a:pPr>
            <a:r>
              <a:rPr sz="975" b="1">
                <a:solidFill>
                  <a:srgbClr val="2F6B57"/>
                </a:solidFill>
              </a:rPr>
              <a:t>PASS — no deployable schema or disavow file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DB2EF7-C352-4590-A2EB-09456E1D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ED56D-7ABA-40D9-B912-D2FCAC29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Generic redirects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847589-0544-4441-AABF-F40BF657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8006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58A941-7755-4EA6-AEDE-089F10E2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9585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Page-specific source/target evidence and graph validation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BA01CD-80D3-407F-BD2D-70F396C0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006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0F0204-50B0-442A-8E96-7BFE7C92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958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57"/>
                </a:solidFill>
              </a:defRPr>
            </a:pPr>
            <a:r>
              <a:rPr sz="975" b="1">
                <a:solidFill>
                  <a:srgbClr val="2F6B57"/>
                </a:solidFill>
              </a:rPr>
              <a:t>PASS — no unsupported redirect candidates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569130-9E9C-4DCC-AFAF-2A62820A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C0A877-546B-45E7-924A-EB224628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Stale QA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A8025E-A4C3-4BEA-9773-BE49CFCE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530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87229-E3A5-4820-8B73-B164C040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44830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1E"/>
                </a:solidFill>
              </a:defRPr>
            </a:pPr>
            <a:r>
              <a:rPr sz="1050" b="0">
                <a:solidFill>
                  <a:srgbClr val="17201E"/>
                </a:solidFill>
              </a:rPr>
              <a:t>Fresh crawl as-of date, render evidence and immutable checksums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CE93E2-FAB6-4BAB-A355-58BE148B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53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8D4C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5EA221-C1B3-45D1-B2E4-D5D85185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4830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57"/>
                </a:solidFill>
              </a:defRPr>
            </a:pPr>
            <a:r>
              <a:rPr sz="975" b="1">
                <a:solidFill>
                  <a:srgbClr val="2F6B57"/>
                </a:solidFill>
              </a:rPr>
              <a:t>PASS_FOR_REVIEW</a:t>
            </a:r>
          </a:p>
        </p:txBody>
      </p:sp>
    </p:spTree>
    <p:extLst>
      <p:ext uri="{BB962C8B-B14F-4D97-AF65-F5344CB8AC3E}">
        <p14:creationId xmlns:p14="http://schemas.microsoft.com/office/powerpoint/2010/main" val="16421661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24AF5-8267-4EA7-90BB-0413D280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1E"/>
                </a:solidFill>
              </a:defRPr>
            </a:pPr>
            <a:r>
              <a:rPr sz="900" b="1">
                <a:solidFill>
                  <a:srgbClr val="17201E"/>
                </a:solidFill>
              </a:rPr>
              <a:t>TRAFFIC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094AE-CBC3-455F-8818-3CBCECC0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16D"/>
                </a:solidFill>
              </a:defRPr>
            </a:pPr>
            <a:r>
              <a:rPr sz="900" b="1">
                <a:solidFill>
                  <a:srgbClr val="66716D"/>
                </a:solidFill>
              </a:rPr>
              <a:t>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400AC-1986-4101-8A32-624C50E1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39AB5B-1325-48AE-A947-C3292B08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EVIDENCE AS OF 2026-07-15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FC69E-9A73-4F59-959B-FB6F6E29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16D"/>
                </a:solidFill>
              </a:defRPr>
            </a:pPr>
            <a:r>
              <a:rPr sz="750" b="0">
                <a:solidFill>
                  <a:srgbClr val="66716D"/>
                </a:solidFill>
              </a:rPr>
              <a:t>09 /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AD7DA-5B02-430E-9D8E-9E2C4A6D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1E"/>
                </a:solidFill>
              </a:defRPr>
            </a:pPr>
            <a:r>
              <a:rPr sz="3450" b="1">
                <a:solidFill>
                  <a:srgbClr val="17201E"/>
                </a:solidFill>
              </a:rPr>
              <a:t>Approve the evidence boundary—or request a revision with precision.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AC92C-A673-46F0-AB1A-793AE6A7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D"/>
                </a:solidFill>
              </a:defRPr>
            </a:pPr>
            <a:r>
              <a:rPr sz="1500" b="0">
                <a:solidFill>
                  <a:srgbClr val="66716D"/>
                </a:solidFill>
              </a:rPr>
              <a:t>Gate 1 accepts evidence and direction. Gate 2 accepts the plan and review-ready assets. Production remains blocked until both decisions and final QA are complete.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749F9-C536-401F-9C83-584AF8C2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619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7201E"/>
          </a:solidFill>
          <a:ln xmlns:a="http://schemas.openxmlformats.org/drawingml/2006/main" w="9525">
            <a:solidFill>
              <a:srgbClr val="17201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F4EA7-EFF5-43D8-B449-85AF6437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5695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EFA"/>
                </a:solidFill>
              </a:defRPr>
            </a:pPr>
            <a:r>
              <a:rPr sz="1350" b="1">
                <a:solidFill>
                  <a:srgbClr val="FFFEFA"/>
                </a:solidFill>
              </a:rPr>
              <a:t>Current state: PASS_FOR_REVIEW · no production promotion performed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FFAFC-D88E-4F91-AFC3-EB80D7CA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76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5C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A760B-BAD3-46D7-BF60-CC939E59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09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15C38"/>
                </a:solidFill>
              </a:defRPr>
            </a:pPr>
            <a:r>
              <a:rPr sz="825" b="1">
                <a:solidFill>
                  <a:srgbClr val="A15C38"/>
                </a:solidFill>
              </a:rPr>
              <a:t>GATE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ED7A8-6C4D-49DF-921A-0507B00D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Human decision required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11746-0354-4C16-B8F2-F60D19AD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AA5621-C711-41B0-A537-822A8F96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00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GATE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E5718-2A8E-49E8-B6B4-05943E24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384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Human decision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D0F7A-A7D5-4942-8AE9-D96AE8AC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E240C-87D7-48C6-BFE9-AB7DAE4B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90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E4C83"/>
                </a:solidFill>
              </a:defRPr>
            </a:pPr>
            <a:r>
              <a:rPr sz="825" b="1">
                <a:solidFill>
                  <a:srgbClr val="3E4C83"/>
                </a:solidFill>
              </a:rPr>
              <a:t>CRITICAL/HIGH QA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C9DAF-DB58-46FA-A0FA-0FD6DE4A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290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1E"/>
                </a:solidFill>
              </a:defRPr>
            </a:pPr>
            <a:r>
              <a:rPr sz="1275" b="0">
                <a:solidFill>
                  <a:srgbClr val="17201E"/>
                </a:solidFill>
              </a:rPr>
              <a:t>0 / 0</a:t>
            </a:r>
          </a:p>
        </p:txBody>
      </p:sp>
    </p:spTree>
    <p:extLst>
      <p:ext uri="{BB962C8B-B14F-4D97-AF65-F5344CB8AC3E}">
        <p14:creationId xmlns:p14="http://schemas.microsoft.com/office/powerpoint/2010/main" val="1048678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2026-07-16T12:06:39.5500000Z</dcterms:created>
  <dcterms:modified xsi:type="dcterms:W3CDTF">2026-07-16T12:06:39.5510000Z</dcterms:modified>
</coreProperties>
</file>