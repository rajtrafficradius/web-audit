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d8844babcf44fb" /><Relationship Type="http://schemas.openxmlformats.org/officeDocument/2006/relationships/extended-properties" Target="/docProps/app.xml" Id="Rb7eed6c78c79454b" /><Relationship Type="http://schemas.openxmlformats.org/officeDocument/2006/relationships/officeDocument" Target="/ppt/presentation.xml" Id="R966bc36b50f24e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3305b32ad34c22"/>
  </p:sldMasterIdLst>
  <p:notesMasterIdLst>
    <p:notesMasterId xmlns:r="http://schemas.openxmlformats.org/officeDocument/2006/relationships" r:id="Rf0b818c1b0bc4e28"/>
  </p:notesMasterIdLst>
  <p:sldIdLst>
    <p:sldId xmlns:r="http://schemas.openxmlformats.org/officeDocument/2006/relationships" id="256" r:id="R9ea0c8f1cd4b4b58"/>
    <p:sldId xmlns:r="http://schemas.openxmlformats.org/officeDocument/2006/relationships" id="257" r:id="R04bfe433cde94f86"/>
    <p:sldId xmlns:r="http://schemas.openxmlformats.org/officeDocument/2006/relationships" id="258" r:id="R3e2d4a1785194b3c"/>
    <p:sldId xmlns:r="http://schemas.openxmlformats.org/officeDocument/2006/relationships" id="259" r:id="Rcaacb80c913a45db"/>
    <p:sldId xmlns:r="http://schemas.openxmlformats.org/officeDocument/2006/relationships" id="260" r:id="Rea31c9ebee024c77"/>
    <p:sldId xmlns:r="http://schemas.openxmlformats.org/officeDocument/2006/relationships" id="261" r:id="R62a185da24d84f9a"/>
    <p:sldId xmlns:r="http://schemas.openxmlformats.org/officeDocument/2006/relationships" id="262" r:id="R4efb5543fde64d04"/>
    <p:sldId xmlns:r="http://schemas.openxmlformats.org/officeDocument/2006/relationships" id="263" r:id="R3f9410a256124ae4"/>
    <p:sldId xmlns:r="http://schemas.openxmlformats.org/officeDocument/2006/relationships" id="264" r:id="R584b61dcd83342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008abbc26d4ce7" /><Relationship Type="http://schemas.openxmlformats.org/officeDocument/2006/relationships/slideMaster" Target="/ppt/slideMasters/slideMaster1.xml" Id="Ra03305b32ad34c22" /><Relationship Type="http://schemas.openxmlformats.org/officeDocument/2006/relationships/notesMaster" Target="/ppt/notesMasters/notesMaster1.xml" Id="Rf0b818c1b0bc4e28" /><Relationship Type="http://schemas.openxmlformats.org/officeDocument/2006/relationships/presProps" Target="/ppt/presProps.xml" Id="R2f2a4124890b491e" /><Relationship Type="http://schemas.openxmlformats.org/officeDocument/2006/relationships/tableStyles" Target="/ppt/tableStyles.xml" Id="R94b10690db7b495c" /><Relationship Type="http://schemas.openxmlformats.org/officeDocument/2006/relationships/slide" Target="/ppt/slides/slide1.xml" Id="R9ea0c8f1cd4b4b58" /><Relationship Type="http://schemas.openxmlformats.org/officeDocument/2006/relationships/slide" Target="/ppt/slides/slide2.xml" Id="R04bfe433cde94f86" /><Relationship Type="http://schemas.openxmlformats.org/officeDocument/2006/relationships/slide" Target="/ppt/slides/slide3.xml" Id="R3e2d4a1785194b3c" /><Relationship Type="http://schemas.openxmlformats.org/officeDocument/2006/relationships/slide" Target="/ppt/slides/slide4.xml" Id="Rcaacb80c913a45db" /><Relationship Type="http://schemas.openxmlformats.org/officeDocument/2006/relationships/slide" Target="/ppt/slides/slide5.xml" Id="Rea31c9ebee024c77" /><Relationship Type="http://schemas.openxmlformats.org/officeDocument/2006/relationships/slide" Target="/ppt/slides/slide6.xml" Id="R62a185da24d84f9a" /><Relationship Type="http://schemas.openxmlformats.org/officeDocument/2006/relationships/slide" Target="/ppt/slides/slide7.xml" Id="R4efb5543fde64d04" /><Relationship Type="http://schemas.openxmlformats.org/officeDocument/2006/relationships/slide" Target="/ppt/slides/slide8.xml" Id="R3f9410a256124ae4" /><Relationship Type="http://schemas.openxmlformats.org/officeDocument/2006/relationships/slide" Target="/ppt/slides/slide9.xml" Id="R584b61dcd83342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e0b932d2e940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96b251aaab42a8" /><Relationship Type="http://schemas.openxmlformats.org/officeDocument/2006/relationships/notesMaster" Target="/ppt/notesMasters/notesMaster1.xml" Id="R76e133e0cb3e48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40213c0c3e482b" /><Relationship Type="http://schemas.openxmlformats.org/officeDocument/2006/relationships/notesMaster" Target="/ppt/notesMasters/notesMaster1.xml" Id="R13b1c11b3d5a46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674b0af5b448c6" /><Relationship Type="http://schemas.openxmlformats.org/officeDocument/2006/relationships/notesMaster" Target="/ppt/notesMasters/notesMaster1.xml" Id="R1f508ef4e48846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2f9c67e8564928" /><Relationship Type="http://schemas.openxmlformats.org/officeDocument/2006/relationships/notesMaster" Target="/ppt/notesMasters/notesMaster1.xml" Id="Rb11150793c4a4a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6d0582e2324847" /><Relationship Type="http://schemas.openxmlformats.org/officeDocument/2006/relationships/notesMaster" Target="/ppt/notesMasters/notesMaster1.xml" Id="R76eeafc944f541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77b8f3aba1465b" /><Relationship Type="http://schemas.openxmlformats.org/officeDocument/2006/relationships/notesMaster" Target="/ppt/notesMasters/notesMaster1.xml" Id="R57c8a64f758442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1bdf7384944663" /><Relationship Type="http://schemas.openxmlformats.org/officeDocument/2006/relationships/notesMaster" Target="/ppt/notesMasters/notesMaster1.xml" Id="R4e8dbc765f454a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635bd0ee824219" /><Relationship Type="http://schemas.openxmlformats.org/officeDocument/2006/relationships/notesMaster" Target="/ppt/notesMasters/notesMaster1.xml" Id="Ra66cc92970c64a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ac820b04994ae0" /><Relationship Type="http://schemas.openxmlformats.org/officeDocument/2006/relationships/notesMaster" Target="/ppt/notesMasters/notesMaster1.xml" Id="Rfc51539192ab4a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4955aa9f04a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2d358c199446cf" /><Relationship Type="http://schemas.openxmlformats.org/officeDocument/2006/relationships/slideLayout" Target="/ppt/slideLayouts/slideLayout1.xml" Id="Rf003cd5dd9bc49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03cd5dd9bc49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c7189f8cd4210" /><Relationship Type="http://schemas.openxmlformats.org/officeDocument/2006/relationships/notesSlide" Target="/ppt/notesSlides/notesSlide1.xml" Id="R17b770f38ff147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c417ffc7a4c80" /><Relationship Type="http://schemas.openxmlformats.org/officeDocument/2006/relationships/chart" Target="/ppt/slides/charts/chart1.xml" Id="Rffab79ba64934bdb" /><Relationship Type="http://schemas.openxmlformats.org/officeDocument/2006/relationships/notesSlide" Target="/ppt/notesSlides/notesSlide2.xml" Id="R24bf11446cc648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c77160d314c6d" /><Relationship Type="http://schemas.openxmlformats.org/officeDocument/2006/relationships/notesSlide" Target="/ppt/notesSlides/notesSlide3.xml" Id="R46b829f2e33048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df2effc824940" /><Relationship Type="http://schemas.openxmlformats.org/officeDocument/2006/relationships/notesSlide" Target="/ppt/notesSlides/notesSlide4.xml" Id="R9f6bcbb8645b48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7e65c6f5d421a" /><Relationship Type="http://schemas.openxmlformats.org/officeDocument/2006/relationships/notesSlide" Target="/ppt/notesSlides/notesSlide5.xml" Id="R860afbe4aa6947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e519759504abd" /><Relationship Type="http://schemas.openxmlformats.org/officeDocument/2006/relationships/notesSlide" Target="/ppt/notesSlides/notesSlide6.xml" Id="R37803e4d04454a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10d67e10c416d" /><Relationship Type="http://schemas.openxmlformats.org/officeDocument/2006/relationships/notesSlide" Target="/ppt/notesSlides/notesSlide7.xml" Id="Rac732a74e24b4d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8006dc31546b0" /><Relationship Type="http://schemas.openxmlformats.org/officeDocument/2006/relationships/notesSlide" Target="/ppt/notesSlides/notesSlide8.xml" Id="R221c693e4ad24f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c7d052eb945f8" /><Relationship Type="http://schemas.openxmlformats.org/officeDocument/2006/relationships/notesSlide" Target="/ppt/notesSlides/notesSlide9.xml" Id="Rd93584a2d0a6496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3E4C83"/>
            </a:solidFill>
          </c:spPr>
          <c:cat>
            <c:strLit>
              <c:ptCount val="2"/>
              <c:pt idx="0">
                <c:v>Technical</c:v>
              </c:pt>
              <c:pt idx="1">
                <c:v>On Page</c:v>
              </c:pt>
            </c:strLit>
          </c:cat>
          <c:val>
            <c:numLit>
              <c:formatCode>General</c:formatCode>
              <c:ptCount val="2"/>
              <c:pt idx="0">
                <c:v>97.88</c:v>
              </c:pt>
              <c:pt idx="1">
                <c:v>99.04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4C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71D62-C51F-4DE1-8530-52C001A7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0"/>
            <a:ext cx="413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41E66-0BBC-408A-99BA-2DE7AB89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5C38"/>
                </a:solidFill>
              </a:defRPr>
            </a:pPr>
            <a:r>
              <a:rPr sz="975" b="1">
                <a:solidFill>
                  <a:srgbClr val="A15C38"/>
                </a:solidFill>
              </a:rPr>
              <a:t>ENTERPRISE SEO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74506-4993-4082-8D4B-A68F7CCB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666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1E"/>
                </a:solidFill>
              </a:defRPr>
            </a:pPr>
            <a:r>
              <a:rPr sz="4350" b="1">
                <a:solidFill>
                  <a:srgbClr val="17201E"/>
                </a:solidFill>
              </a:rPr>
              <a:t>Evidence first. Growth second.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C5FF3-9F45-4598-AEFE-5E91B388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16D"/>
                </a:solidFill>
              </a:defRPr>
            </a:pPr>
            <a:r>
              <a:rPr sz="1650" b="0">
                <a:solidFill>
                  <a:srgbClr val="66716D"/>
                </a:solidFill>
              </a:rPr>
              <a:t>A fresh, approved-domain review of Kakawa Chocolates with a safe 16-week path from observed issues to controlled implementation.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28DDA-04E7-4EC4-8A5A-9257FDE1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144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EFA"/>
                </a:solidFill>
              </a:defRPr>
            </a:pPr>
            <a:r>
              <a:rPr sz="2400" b="1">
                <a:solidFill>
                  <a:srgbClr val="FFFEFA"/>
                </a:solidFill>
              </a:rPr>
              <a:t>KAKAWA</a:t>
            </a:r>
          </a:p>
          <a:p xmlns:a="http://schemas.openxmlformats.org/drawingml/2006/main">
            <a:pPr algn="l">
              <a:defRPr sz="2400" b="1">
                <a:solidFill>
                  <a:srgbClr val="FFFEFA"/>
                </a:solidFill>
              </a:defRPr>
            </a:pPr>
            <a:r>
              <a:rPr sz="2400" b="1">
                <a:solidFill>
                  <a:srgbClr val="FFFEFA"/>
                </a:solidFill>
              </a:rPr>
              <a:t>CHOCOLATES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05CD4-FA24-4E48-B227-8ACB0224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4C9"/>
                </a:solidFill>
              </a:defRPr>
            </a:pPr>
            <a:r>
              <a:rPr sz="1050" b="0">
                <a:solidFill>
                  <a:srgbClr val="D8D4C9"/>
                </a:solidFill>
              </a:rPr>
              <a:t>RUN</a:t>
            </a:r>
          </a:p>
          <a:p xmlns:a="http://schemas.openxmlformats.org/drawingml/2006/main">
            <a:pPr algn="l">
              <a:defRPr sz="1050" b="0">
                <a:solidFill>
                  <a:srgbClr val="D8D4C9"/>
                </a:solidFill>
              </a:defRPr>
            </a:pPr>
            <a:r>
              <a:rPr sz="1050" b="0">
                <a:solidFill>
                  <a:srgbClr val="D8D4C9"/>
                </a:solidFill>
              </a:rPr>
              <a:t>KAKAWA-ENT-20260715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AF5CE-3E97-4B3E-9BCE-314DAE37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386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EFA"/>
                </a:solidFill>
              </a:defRPr>
            </a:pPr>
            <a:r>
              <a:rPr sz="1050" b="0">
                <a:solidFill>
                  <a:srgbClr val="FFFEFA"/>
                </a:solidFill>
              </a:rPr>
              <a:t>STATUS</a:t>
            </a:r>
          </a:p>
          <a:p xmlns:a="http://schemas.openxmlformats.org/drawingml/2006/main">
            <a:pPr algn="l">
              <a:defRPr sz="1050" b="0">
                <a:solidFill>
                  <a:srgbClr val="FFFEFA"/>
                </a:solidFill>
              </a:defRPr>
            </a:pPr>
            <a:r>
              <a:rPr sz="1050" b="0">
                <a:solidFill>
                  <a:srgbClr val="FFFEFA"/>
                </a:solidFill>
              </a:rPr>
              <a:t>PASS_FOR_REVIEW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B913E-A3DF-4442-A101-0885914C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8D4C9"/>
                </a:solidFill>
              </a:defRPr>
            </a:pPr>
            <a:r>
              <a:rPr sz="750" b="0">
                <a:solidFill>
                  <a:srgbClr val="D8D4C9"/>
                </a:solidFill>
              </a:rPr>
              <a:t>01 / 09</a:t>
            </a:r>
          </a:p>
        </p:txBody>
      </p:sp>
    </p:spTree>
    <p:extLst>
      <p:ext uri="{BB962C8B-B14F-4D97-AF65-F5344CB8AC3E}">
        <p14:creationId xmlns:p14="http://schemas.microsoft.com/office/powerpoint/2010/main" val="1220178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73B12-527B-498B-B7BF-16BBE81F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E"/>
                </a:solidFill>
              </a:defRPr>
            </a:pPr>
            <a:r>
              <a:rPr sz="900" b="1">
                <a:solidFill>
                  <a:srgbClr val="17201E"/>
                </a:solidFill>
              </a:rPr>
              <a:t>TRAFFIC 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DF5C0-6736-42EF-A8E9-D7C07AFF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D"/>
                </a:solidFill>
              </a:defRPr>
            </a:pPr>
            <a:r>
              <a:rPr sz="900" b="1">
                <a:solidFill>
                  <a:srgbClr val="66716D"/>
                </a:solidFill>
              </a:rPr>
              <a:t>EVIDENCE POSTURE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6B9CF-1B24-4778-B4F8-B0EB1D5B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B9224-B19F-4A2C-ADE2-2EEAEA61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EVIDENCE AS OF 2026-07-15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6387F-0B70-490D-90A8-DAA9D793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02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A5AAF-21E2-4010-A096-096735BE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334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1E"/>
                </a:solidFill>
              </a:defRPr>
            </a:pPr>
            <a:r>
              <a:rPr sz="3225" b="1">
                <a:solidFill>
                  <a:srgbClr val="17201E"/>
                </a:solidFill>
              </a:rPr>
              <a:t>A score is useful only when coverage earns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DAB12-C30B-4109-A522-689835DB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6D"/>
                </a:solidFill>
              </a:defRPr>
            </a:pPr>
            <a:r>
              <a:rPr sz="1425" b="0">
                <a:solidFill>
                  <a:srgbClr val="66716D"/>
                </a:solidFill>
              </a:rPr>
              <a:t>Weighted evidence coverage 35.0% is below the 70% publication threshold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676900" y="1066800"/>
          <a:ext xmlns:a="http://schemas.openxmlformats.org/drawingml/2006/main" cx="5715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ab79ba64934bd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3195F-41AB-40ED-A0C7-60506151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53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2E9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76D61-C9E4-4A69-AE3B-0D9C05F9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15C38"/>
                </a:solidFill>
              </a:defRPr>
            </a:pPr>
            <a:r>
              <a:rPr sz="825" b="1">
                <a:solidFill>
                  <a:srgbClr val="A15C38"/>
                </a:solidFill>
              </a:rPr>
              <a:t>PUBLICATION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1C20F-1E1A-4ABF-B4FE-65C5D0DF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Weighted evidence coverage 35.0% is below the 70% publication threshold</a:t>
            </a:r>
          </a:p>
        </p:txBody>
      </p:sp>
    </p:spTree>
    <p:extLst>
      <p:ext uri="{BB962C8B-B14F-4D97-AF65-F5344CB8AC3E}">
        <p14:creationId xmlns:p14="http://schemas.microsoft.com/office/powerpoint/2010/main" val="401906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60072-3F00-46E0-91CC-34C400F4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E"/>
                </a:solidFill>
              </a:defRPr>
            </a:pPr>
            <a:r>
              <a:rPr sz="900" b="1">
                <a:solidFill>
                  <a:srgbClr val="17201E"/>
                </a:solidFill>
              </a:rPr>
              <a:t>TRAFFIC 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2DF19-EC0A-402F-9429-1B153E3A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D"/>
                </a:solidFill>
              </a:defRPr>
            </a:pPr>
            <a:r>
              <a:rPr sz="900" b="1">
                <a:solidFill>
                  <a:srgbClr val="66716D"/>
                </a:solidFill>
              </a:rPr>
              <a:t>WHAT WE KNOW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8256C-56B9-490F-A56C-9992D34A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15E39-C08F-4B5F-9415-423646F4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EVIDENCE AS OF 2026-07-15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5BE60-8274-48AC-A067-574A0C48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03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597C8-1C3C-472A-A3F6-FCD9F4DF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57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1E"/>
                </a:solidFill>
              </a:defRPr>
            </a:pPr>
            <a:r>
              <a:rPr sz="3450" b="1">
                <a:solidFill>
                  <a:srgbClr val="17201E"/>
                </a:solidFill>
              </a:rPr>
              <a:t>Public crawl evidence can guide technical and on-page work now.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2A503-2C08-4907-96BA-AA5C445E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6D"/>
                </a:solidFill>
              </a:defRPr>
            </a:pPr>
            <a:r>
              <a:rPr sz="1500" b="0">
                <a:solidFill>
                  <a:srgbClr val="66716D"/>
                </a:solidFill>
              </a:rPr>
              <a:t>Private search, analytics, competitive and performance baselines remain unavailable.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C3B6A-E2E6-4E7F-A999-DB67CF51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764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016ED-B6A4-42C7-B13A-9C862439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15C38"/>
                </a:solidFill>
              </a:defRPr>
            </a:pPr>
            <a:r>
              <a:rPr sz="825" b="1">
                <a:solidFill>
                  <a:srgbClr val="A15C38"/>
                </a:solidFill>
              </a:rPr>
              <a:t>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5D59D-1FC1-4C41-A819-A729430B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357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43792-8421-4B26-9465-0491895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30231-3A62-4DF3-B1E2-BD683B39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00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FINDINGS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7283A-44B7-4AA6-AE6C-FF4A077B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384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0A450-1BCB-41B8-9444-A395AF62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A4CE1-DF2B-413E-BF8E-DAFF83B0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90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WRONG-DOMAIN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066F0-33E8-4DFC-A24D-E88AC582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2309B-D321-4A57-B2B5-CAB40AFD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C3FD8-1256-459A-9202-50A59A01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815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EXTERNAL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CC792-E855-47B1-A3AB-4EDD86F3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196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9330733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9D47A-7672-4BA6-ADE7-22658B1D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E"/>
                </a:solidFill>
              </a:defRPr>
            </a:pPr>
            <a:r>
              <a:rPr sz="900" b="1">
                <a:solidFill>
                  <a:srgbClr val="17201E"/>
                </a:solidFill>
              </a:rPr>
              <a:t>TRAFFIC 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C13C0-B860-4E44-8F32-B14ACE62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D"/>
                </a:solidFill>
              </a:defRPr>
            </a:pPr>
            <a:r>
              <a:rPr sz="900" b="1">
                <a:solidFill>
                  <a:srgbClr val="66716D"/>
                </a:solidFill>
              </a:rPr>
              <a:t>FIRST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EAC89-51E3-406B-BD41-FEDDB97F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EC71E-FD94-46B0-A451-9DCE7535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EVIDENCE AS OF 2026-07-15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BFE54-54A3-45FE-A82D-169BFB6D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04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70C58-51BB-4E2E-AB92-22E9914C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57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1E"/>
                </a:solidFill>
              </a:defRPr>
            </a:pPr>
            <a:r>
              <a:rPr sz="3450" b="1">
                <a:solidFill>
                  <a:srgbClr val="17201E"/>
                </a:solidFill>
              </a:rPr>
              <a:t>Stabilise the evidence and URL graph before expanding content.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D7865-017C-44BC-8110-991B378B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6D"/>
                </a:solidFill>
              </a:defRPr>
            </a:pPr>
            <a:r>
              <a:rPr sz="1500" b="0">
                <a:solidFill>
                  <a:srgbClr val="66716D"/>
                </a:solidFill>
              </a:rPr>
              <a:t>Resolve deterministic crawl findings, validate canonicals and redirects, then re-crawl in staging.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03EC9-B5D7-46A2-B023-54A067AF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764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5D82B-3F67-4182-890A-1B8DE826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15C38"/>
                </a:solidFill>
              </a:defRPr>
            </a:pPr>
            <a:r>
              <a:rPr sz="825" b="1">
                <a:solidFill>
                  <a:srgbClr val="A15C38"/>
                </a:solidFill>
              </a:rPr>
              <a:t>P2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57CE4-D9F9-442F-A688-155F5AB0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HTTP 404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313AF-5605-4961-8F39-6D11AE95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AEFB7-8498-49DB-BB0A-3CDE34D3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00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E8F2F-57EF-4E4C-AD10-12CFAEB2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384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Missing primary heading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FF045-76E0-4AE4-920E-58041136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39B1D-981A-408F-94E4-221376CD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90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P2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1186F-5FE5-4418-9220-C2BC2F18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Missing meta description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2557B-8168-4EBD-B6DC-497638F5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6AA96-7CCD-4B77-899D-B363BE13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815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P2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46D9D7-A350-459B-A5C0-B51FD873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196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Multiple primary headings</a:t>
            </a:r>
          </a:p>
        </p:txBody>
      </p:sp>
    </p:spTree>
    <p:extLst>
      <p:ext uri="{BB962C8B-B14F-4D97-AF65-F5344CB8AC3E}">
        <p14:creationId xmlns:p14="http://schemas.microsoft.com/office/powerpoint/2010/main" val="10292693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96BCA-F569-4D2F-AF59-E8B707EE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E"/>
                </a:solidFill>
              </a:defRPr>
            </a:pPr>
            <a:r>
              <a:rPr sz="900" b="1">
                <a:solidFill>
                  <a:srgbClr val="17201E"/>
                </a:solidFill>
              </a:rPr>
              <a:t>TRAFFIC 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DA17B-8BFD-4207-866A-252F68B3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D"/>
                </a:solidFill>
              </a:defRPr>
            </a:pPr>
            <a:r>
              <a:rPr sz="900" b="1">
                <a:solidFill>
                  <a:srgbClr val="66716D"/>
                </a:solidFill>
              </a:rPr>
              <a:t>CONTENT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0B737-0FCC-4E7C-ACF3-FCC96B92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3AF48-85C1-480D-807E-95AEEC1F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EVIDENCE AS OF 2026-07-15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4295B-EEEF-4AC1-AED1-942DC0C4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05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3EA9F-9B19-4AFC-8F6D-0D9C9982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57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1E"/>
                </a:solidFill>
              </a:defRPr>
            </a:pPr>
            <a:r>
              <a:rPr sz="3450" b="1">
                <a:solidFill>
                  <a:srgbClr val="17201E"/>
                </a:solidFill>
              </a:rPr>
              <a:t>Six distinct refreshes beat twenty padded drafts.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686A5-533A-4CE7-A2DB-2F1CACAF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6D"/>
                </a:solidFill>
              </a:defRPr>
            </a:pPr>
            <a:r>
              <a:rPr sz="1500" b="0">
                <a:solidFill>
                  <a:srgbClr val="66716D"/>
                </a:solidFill>
              </a:rPr>
              <a:t>Each proposed asset maps to one existing target and remains withheld until human editorial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44DAE-BFD9-49F6-A3E4-43181E6A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764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080FF-9B87-4A5B-9AA6-3DDA91CE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15C38"/>
                </a:solidFill>
              </a:defRPr>
            </a:pPr>
            <a:r>
              <a:rPr sz="825" b="1">
                <a:solidFill>
                  <a:srgbClr val="A15C38"/>
                </a:solidFill>
              </a:rPr>
              <a:t>CONTENT-01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56B9A-E8BC-45F0-88F8-157AB7B9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Corporate chocolate enquiry guide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B5F67-EFD7-481D-A483-54F85E2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2C699-446B-488D-9E7B-FC1FF678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00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CONTENT-02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6FCEE-5FD6-4A64-B5F8-2C92E031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384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Wholesale enquiry guide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D3CAE-6AFB-47B5-AC5A-96211645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E9CAA-0264-4E25-BA7D-C48F455B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90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CONTENT-03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BA623-74B2-474A-8E40-A53E669F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Chocolate delivery planning guide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7706A-BD6D-4CCF-8686-DA8CF28F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186DC-639A-4994-AE9C-723550F9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815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CONTENT-04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3F932-9E92-491A-A919-37E97BAA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196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How Kakawa presents its craft</a:t>
            </a:r>
          </a:p>
        </p:txBody>
      </p:sp>
    </p:spTree>
    <p:extLst>
      <p:ext uri="{BB962C8B-B14F-4D97-AF65-F5344CB8AC3E}">
        <p14:creationId xmlns:p14="http://schemas.microsoft.com/office/powerpoint/2010/main" val="736645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A91E5B-7179-48A7-BC65-5F6022D7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E"/>
                </a:solidFill>
              </a:defRPr>
            </a:pPr>
            <a:r>
              <a:rPr sz="900" b="1">
                <a:solidFill>
                  <a:srgbClr val="17201E"/>
                </a:solidFill>
              </a:rPr>
              <a:t>TRAFFIC 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AF1F6-8453-4A83-941D-B7412393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D"/>
                </a:solidFill>
              </a:defRPr>
            </a:pPr>
            <a:r>
              <a:rPr sz="900" b="1">
                <a:solidFill>
                  <a:srgbClr val="66716D"/>
                </a:solidFill>
              </a:rPr>
              <a:t>16-WEEK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915BE-1A1D-4C4C-9D37-DF19723A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326DF-36AA-4AE7-8DF3-524803DD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EVIDENCE AS OF 2026-07-15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2B474-6527-4513-AA73-BF05A0B9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06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1107A-0226-44D3-9AF6-D767CC09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38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1E"/>
                </a:solidFill>
              </a:defRPr>
            </a:pPr>
            <a:r>
              <a:rPr sz="3225" b="1">
                <a:solidFill>
                  <a:srgbClr val="17201E"/>
                </a:solidFill>
              </a:rPr>
              <a:t>Sequence removes risk from the critical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A8DF5-94AD-434B-99CE-EBC301AC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6D"/>
                </a:solidFill>
              </a:defRPr>
            </a:pPr>
            <a:r>
              <a:rPr sz="1425" b="0">
                <a:solidFill>
                  <a:srgbClr val="66716D"/>
                </a:solidFill>
              </a:rPr>
              <a:t>The canonical plan moves from evidence closure to technical stability, controlled expansion and proof.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EF573-B1D7-47D4-B46C-77CE3336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812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7201E"/>
          </a:solidFill>
          <a:ln xmlns:a="http://schemas.openxmlformats.org/drawingml/2006/main" w="9525">
            <a:solidFill>
              <a:srgbClr val="17201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182B3-A9FE-4E28-8033-4D148039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5C38"/>
                </a:solidFill>
              </a:defRPr>
            </a:pPr>
            <a:r>
              <a:rPr sz="975" b="1">
                <a:solidFill>
                  <a:srgbClr val="A15C3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FDAE5-723C-4673-966D-5B27F554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4C9"/>
                </a:solidFill>
              </a:defRPr>
            </a:pPr>
            <a:r>
              <a:rPr sz="900" b="1">
                <a:solidFill>
                  <a:srgbClr val="D8D4C9"/>
                </a:solidFill>
              </a:rPr>
              <a:t>Weeks 1–4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1AB35-F92A-40C3-AA38-700C36C7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EFA"/>
                </a:solidFill>
              </a:defRPr>
            </a:pPr>
            <a:r>
              <a:rPr sz="1800" b="1">
                <a:solidFill>
                  <a:srgbClr val="FFFEFA"/>
                </a:solidFill>
              </a:rPr>
              <a:t>Stabilise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FB3BB-8D9D-4B7B-B0E7-312AABF0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4C9"/>
                </a:solidFill>
              </a:defRPr>
            </a:pPr>
            <a:r>
              <a:rPr sz="1125" b="0">
                <a:solidFill>
                  <a:srgbClr val="D8D4C9"/>
                </a:solidFill>
              </a:rPr>
              <a:t>Evidence closure, indexation controls, measurement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A432C-16F2-46F6-B535-48FFFF0A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52750"/>
            <a:ext cx="23812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8837A-00A4-49C6-9200-79CE499E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4C83"/>
                </a:solidFill>
              </a:defRPr>
            </a:pPr>
            <a:r>
              <a:rPr sz="975" b="1">
                <a:solidFill>
                  <a:srgbClr val="3E4C8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3A7DB-5C63-4C7A-B6C0-C61D549E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62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D"/>
                </a:solidFill>
              </a:defRPr>
            </a:pPr>
            <a:r>
              <a:rPr sz="900" b="1">
                <a:solidFill>
                  <a:srgbClr val="66716D"/>
                </a:solidFill>
              </a:rPr>
              <a:t>Weeks 5–8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BDFE6-F9D1-4225-A617-F741F956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43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E"/>
                </a:solidFill>
              </a:defRPr>
            </a:pPr>
            <a:r>
              <a:rPr sz="1800" b="1">
                <a:solidFill>
                  <a:srgbClr val="17201E"/>
                </a:solidFill>
              </a:rPr>
              <a:t>Clarify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BC002-2110-46B9-BFCB-983AC057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Information architecture, templates, internal-link 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FAAE9-4844-41D8-96EF-D138F3B4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3812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F747F-D780-4A21-A3F5-A131C7B9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4C83"/>
                </a:solidFill>
              </a:defRPr>
            </a:pPr>
            <a:r>
              <a:rPr sz="975" b="1">
                <a:solidFill>
                  <a:srgbClr val="3E4C83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8E961-10BA-42F2-9FF3-54A06827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D"/>
                </a:solidFill>
              </a:defRPr>
            </a:pPr>
            <a:r>
              <a:rPr sz="900" b="1">
                <a:solidFill>
                  <a:srgbClr val="66716D"/>
                </a:solidFill>
              </a:rPr>
              <a:t>Weeks 9–12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084CE4-EF1E-463C-A05E-238498C9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E"/>
                </a:solidFill>
              </a:defRPr>
            </a:pPr>
            <a:r>
              <a:rPr sz="1800" b="1">
                <a:solidFill>
                  <a:srgbClr val="17201E"/>
                </a:solidFill>
              </a:rPr>
              <a:t>Expand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4E665-24BA-4ABA-AF99-AF88EC45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577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Approved content opportunities and merchandising depth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C70AC-5393-40B7-8B1E-CF263BF8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3812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5B619-7F0A-4842-963A-3E204DED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4C83"/>
                </a:solidFill>
              </a:defRPr>
            </a:pPr>
            <a:r>
              <a:rPr sz="975" b="1">
                <a:solidFill>
                  <a:srgbClr val="3E4C83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1A7D24-5AB0-4AE0-B32D-A5E72030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D"/>
                </a:solidFill>
              </a:defRPr>
            </a:pPr>
            <a:r>
              <a:rPr sz="900" b="1">
                <a:solidFill>
                  <a:srgbClr val="66716D"/>
                </a:solidFill>
              </a:rPr>
              <a:t>Weeks 13–16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A97B3E-1AA8-427A-A4D2-543FD24A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43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E"/>
                </a:solidFill>
              </a:defRPr>
            </a:pPr>
            <a:r>
              <a:rPr sz="1800" b="1">
                <a:solidFill>
                  <a:srgbClr val="17201E"/>
                </a:solidFill>
              </a:rPr>
              <a:t>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5D3444-91FD-44C6-AB15-15747CDA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577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D"/>
                </a:solidFill>
              </a:defRPr>
            </a:pPr>
            <a:r>
              <a:rPr sz="1125" b="0">
                <a:solidFill>
                  <a:srgbClr val="66716D"/>
                </a:solidFill>
              </a:rPr>
              <a:t>QA, measurement review, iteration and release evidence</a:t>
            </a:r>
          </a:p>
        </p:txBody>
      </p:sp>
    </p:spTree>
    <p:extLst>
      <p:ext uri="{BB962C8B-B14F-4D97-AF65-F5344CB8AC3E}">
        <p14:creationId xmlns:p14="http://schemas.microsoft.com/office/powerpoint/2010/main" val="1006363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F99E7-2A68-40A6-AD70-38F1C2B6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E"/>
                </a:solidFill>
              </a:defRPr>
            </a:pPr>
            <a:r>
              <a:rPr sz="900" b="1">
                <a:solidFill>
                  <a:srgbClr val="17201E"/>
                </a:solidFill>
              </a:rPr>
              <a:t>TRAFFIC 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BE654-8B6C-496A-9A9F-ECDC2E32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D"/>
                </a:solidFill>
              </a:defRPr>
            </a:pPr>
            <a:r>
              <a:rPr sz="900" b="1">
                <a:solidFill>
                  <a:srgbClr val="66716D"/>
                </a:solidFill>
              </a:rPr>
              <a:t>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3A27D-03CB-425E-B421-7831563A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D7EE6-849F-4652-92CA-6E648FCC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EVIDENCE AS OF 2026-07-15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D5585-7D5F-4027-851E-DE689B16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07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16FA9-E51D-4B76-B2D0-D89B4CD9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57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1E"/>
                </a:solidFill>
              </a:defRPr>
            </a:pPr>
            <a:r>
              <a:rPr sz="3450" b="1">
                <a:solidFill>
                  <a:srgbClr val="17201E"/>
                </a:solidFill>
              </a:rPr>
              <a:t>Connect first-party baselines before making outcome claims.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DFB34-EBAD-43F8-8E5C-5EAC5F27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6D"/>
                </a:solidFill>
              </a:defRPr>
            </a:pPr>
            <a:r>
              <a:rPr sz="1500" b="0">
                <a:solidFill>
                  <a:srgbClr val="66716D"/>
                </a:solidFill>
              </a:rPr>
              <a:t>No traffic, ranking or revenue forecast is published from the public fixture.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54F79-2951-4BA8-A861-75696F29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764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0A1FE-AF25-4B14-B049-7D6FAAE6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15C38"/>
                </a:solidFill>
              </a:defRPr>
            </a:pPr>
            <a:r>
              <a:rPr sz="825" b="1">
                <a:solidFill>
                  <a:srgbClr val="A15C38"/>
                </a:solidFill>
              </a:rPr>
              <a:t>GSC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C48F4-EFD9-42E1-8570-6F2AC752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Unavailable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8F8EA-531E-46E0-9E91-3F13D70E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55D5E-C9FA-4C2C-9450-946F9E31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00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GA4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02BBA-28FA-4BE7-91E4-A8B8B1C7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384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Unavailable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39901-F628-4EB5-A903-FC636716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671BA-4CCC-4636-A48A-8A984242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90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SEMRUSH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0E937-A5C1-4F5D-AB7E-467830DB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Unavailable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86BD8-2C60-4A6F-9BF0-C923A8A4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3256E-44BF-4111-94D8-DD1AE13E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815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PAGESPEED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A6DDC-299D-4BFE-B47A-04456896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196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Unavailable</a:t>
            </a:r>
          </a:p>
        </p:txBody>
      </p:sp>
    </p:spTree>
    <p:extLst>
      <p:ext uri="{BB962C8B-B14F-4D97-AF65-F5344CB8AC3E}">
        <p14:creationId xmlns:p14="http://schemas.microsoft.com/office/powerpoint/2010/main" val="498122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72E559-7FC3-4DD0-B1B4-CD565D55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E"/>
                </a:solidFill>
              </a:defRPr>
            </a:pPr>
            <a:r>
              <a:rPr sz="900" b="1">
                <a:solidFill>
                  <a:srgbClr val="17201E"/>
                </a:solidFill>
              </a:rPr>
              <a:t>TRAFFIC 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2966A-3B34-40E9-95BE-2CAF794B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D"/>
                </a:solidFill>
              </a:defRPr>
            </a:pPr>
            <a:r>
              <a:rPr sz="900" b="1">
                <a:solidFill>
                  <a:srgbClr val="66716D"/>
                </a:solidFill>
              </a:rPr>
              <a:t>NEGATIVE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66EAE-508D-4208-8C2B-46353A03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9BC7F-6178-4295-8CD6-A7F3AF4D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EVIDENCE AS OF 2026-07-15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9BFDD-487C-45C9-B2D2-5B5A3EEF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08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4CC9F-0715-4E10-8B74-21FF1222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704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1E"/>
                </a:solidFill>
              </a:defRPr>
            </a:pPr>
            <a:r>
              <a:rPr sz="3225" b="1">
                <a:solidFill>
                  <a:srgbClr val="17201E"/>
                </a:solidFill>
              </a:rPr>
              <a:t>v19 turns known v18 failure modes into release blockers.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FBB3B-3C9C-455D-B8DA-3105A747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D"/>
                </a:solidFill>
              </a:defRPr>
            </a:pPr>
            <a:r>
              <a:rPr sz="1350" b="0">
                <a:solidFill>
                  <a:srgbClr val="66716D"/>
                </a:solidFill>
              </a:rPr>
              <a:t>Domain safety, evidence lineage, approvals, reconciliations and checksums are enforced by machine-verifiable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97623-5516-4161-AFBF-8B192D9A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C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A75C4-F180-4AFC-A851-4328361A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EFA"/>
                </a:solidFill>
              </a:defRPr>
            </a:pPr>
            <a:r>
              <a:rPr sz="825" b="1">
                <a:solidFill>
                  <a:srgbClr val="FFFEFA"/>
                </a:solidFill>
              </a:rPr>
              <a:t>FAILURE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B7B68-ED4A-4BD2-BD7A-7726868B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C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4E876-F8F5-4864-BF40-D73A3CDD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57500"/>
            <a:ext cx="472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EFA"/>
                </a:solidFill>
              </a:defRPr>
            </a:pPr>
            <a:r>
              <a:rPr sz="825" b="1">
                <a:solidFill>
                  <a:srgbClr val="FFFEFA"/>
                </a:solidFill>
              </a:rPr>
              <a:t>V19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2A6CC-8298-4DED-A380-F88B5B5A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C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0BE32-0771-4C08-BB73-6AAAC1C5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EFA"/>
                </a:solidFill>
              </a:defRPr>
            </a:pPr>
            <a:r>
              <a:rPr sz="825" b="1">
                <a:solidFill>
                  <a:srgbClr val="FFFEFA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251E9-605E-4487-9877-B11A4447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4A30B-4E97-4DF6-BF9E-1692F6A8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E"/>
                </a:solidFill>
              </a:defRPr>
            </a:pPr>
            <a:r>
              <a:rPr sz="1050" b="0">
                <a:solidFill>
                  <a:srgbClr val="17201E"/>
                </a:solidFill>
              </a:rPr>
              <a:t>.com domain contamination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B65FF-0C7C-4917-9A7A-2B208D68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13888-4589-416A-9426-F7989502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385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E"/>
                </a:solidFill>
              </a:defRPr>
            </a:pPr>
            <a:r>
              <a:rPr sz="1050" b="0">
                <a:solidFill>
                  <a:srgbClr val="17201E"/>
                </a:solidFill>
              </a:rPr>
              <a:t>Approved-domain normalization plus manifest-wide URL scan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9DC70-FFCB-48BF-8558-9EEE5474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3B9DE-CA61-46A1-A0F3-36566EB7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385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57"/>
                </a:solidFill>
              </a:defRPr>
            </a:pPr>
            <a:r>
              <a:rPr sz="975" b="1">
                <a:solidFill>
                  <a:srgbClr val="2F6B57"/>
                </a:solidFill>
              </a:rPr>
              <a:t>PASS — 0 wrong-domain URL records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C2D84F-E9FE-4E87-BF03-64362BB5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C9B5B-4C43-456A-A993-917FBA7A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E"/>
                </a:solidFill>
              </a:defRPr>
            </a:pPr>
            <a:r>
              <a:rPr sz="1050" b="0">
                <a:solidFill>
                  <a:srgbClr val="17201E"/>
                </a:solidFill>
              </a:rPr>
              <a:t>Duplicate pages/files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F23ED-C786-4861-8117-F452ADA9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957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BC234-715D-4525-A3AA-63EB7F3D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9095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E"/>
                </a:solidFill>
              </a:defRPr>
            </a:pPr>
            <a:r>
              <a:rPr sz="1050" b="0">
                <a:solidFill>
                  <a:srgbClr val="17201E"/>
                </a:solidFill>
              </a:rPr>
              <a:t>Canonical URL dedupe and SHA-256 duplicate rejection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925D2-77FB-4727-9888-6CC37D84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957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07EA45-466F-4401-8D3C-19E02871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57"/>
                </a:solidFill>
              </a:defRPr>
            </a:pPr>
            <a:r>
              <a:rPr sz="975" b="1">
                <a:solidFill>
                  <a:srgbClr val="2F6B57"/>
                </a:solidFill>
              </a:rPr>
              <a:t>PASS — 0 duplicate normalized 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D1580F-B304-4BDD-A9C6-DCE373D0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DE0887-E554-4137-86C5-FA9CCF21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E"/>
                </a:solidFill>
              </a:defRPr>
            </a:pPr>
            <a:r>
              <a:rPr sz="1050" b="0">
                <a:solidFill>
                  <a:srgbClr val="17201E"/>
                </a:solidFill>
              </a:rPr>
              <a:t>Unsupported schema and disavow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9A4D1-C658-416B-845C-8B01334F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481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8D6CB7-A058-4836-921D-84DD1209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434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E"/>
                </a:solidFill>
              </a:defRPr>
            </a:pPr>
            <a:r>
              <a:rPr sz="1050" b="0">
                <a:solidFill>
                  <a:srgbClr val="17201E"/>
                </a:solidFill>
              </a:rPr>
              <a:t>Claim ledger, admin gate and disavow disabled by default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63BF3D-DD46-461D-89C6-383F70B4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AF0A05-A22E-43AA-932D-DAEFDBB0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434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57"/>
                </a:solidFill>
              </a:defRPr>
            </a:pPr>
            <a:r>
              <a:rPr sz="975" b="1">
                <a:solidFill>
                  <a:srgbClr val="2F6B57"/>
                </a:solidFill>
              </a:rPr>
              <a:t>PASS — no deployable schema or disavow file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A6CE3A-BA60-4B8B-AB7C-AB75FB81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3CDCD4-FF23-493D-97F4-F639E893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E"/>
                </a:solidFill>
              </a:defRPr>
            </a:pPr>
            <a:r>
              <a:rPr sz="1050" b="0">
                <a:solidFill>
                  <a:srgbClr val="17201E"/>
                </a:solidFill>
              </a:rPr>
              <a:t>Generic redirects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2A4007-3E2C-4164-A532-10918E76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006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3C10AE-8240-4E9C-883F-6C3E1F1D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9585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E"/>
                </a:solidFill>
              </a:defRPr>
            </a:pPr>
            <a:r>
              <a:rPr sz="1050" b="0">
                <a:solidFill>
                  <a:srgbClr val="17201E"/>
                </a:solidFill>
              </a:rPr>
              <a:t>Page-specific source/target evidence and graph validation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9C79CC-D4B1-4923-82B1-D7EF1C81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006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6FE0D1-BFF2-4624-99E9-1482A84E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95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57"/>
                </a:solidFill>
              </a:defRPr>
            </a:pPr>
            <a:r>
              <a:rPr sz="975" b="1">
                <a:solidFill>
                  <a:srgbClr val="2F6B57"/>
                </a:solidFill>
              </a:rPr>
              <a:t>PASS — no unsupported redirect candidates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3EF18B-4033-4B2D-A52C-7DE1CB0E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131C9A-DD03-4C1D-863C-3A723158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E"/>
                </a:solidFill>
              </a:defRPr>
            </a:pPr>
            <a:r>
              <a:rPr sz="1050" b="0">
                <a:solidFill>
                  <a:srgbClr val="17201E"/>
                </a:solidFill>
              </a:rPr>
              <a:t>Stale QA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538AC1-B077-4B0E-BAA6-96A8702A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3530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830B68-C47F-48F9-88AF-8430D236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4483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E"/>
                </a:solidFill>
              </a:defRPr>
            </a:pPr>
            <a:r>
              <a:rPr sz="1050" b="0">
                <a:solidFill>
                  <a:srgbClr val="17201E"/>
                </a:solidFill>
              </a:rPr>
              <a:t>Fresh crawl as-of date, render evidence and immutable checksums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71DF22-512E-4574-B888-5EED7BE0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530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88A5CD-0AEA-480C-B581-3CE92FF2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483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57"/>
                </a:solidFill>
              </a:defRPr>
            </a:pPr>
            <a:r>
              <a:rPr sz="975" b="1">
                <a:solidFill>
                  <a:srgbClr val="2F6B57"/>
                </a:solidFill>
              </a:rPr>
              <a:t>PASS_FOR_REVIEW</a:t>
            </a:r>
          </a:p>
        </p:txBody>
      </p:sp>
    </p:spTree>
    <p:extLst>
      <p:ext uri="{BB962C8B-B14F-4D97-AF65-F5344CB8AC3E}">
        <p14:creationId xmlns:p14="http://schemas.microsoft.com/office/powerpoint/2010/main" val="793180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CD4DC-481D-4BBB-A6FE-BC762BC5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1E"/>
                </a:solidFill>
              </a:defRPr>
            </a:pPr>
            <a:r>
              <a:rPr sz="900" b="1">
                <a:solidFill>
                  <a:srgbClr val="17201E"/>
                </a:solidFill>
              </a:rPr>
              <a:t>TRAFFIC 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A384C-A8D2-4679-B9E5-52416CEF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D"/>
                </a:solidFill>
              </a:defRPr>
            </a:pPr>
            <a:r>
              <a:rPr sz="900" b="1">
                <a:solidFill>
                  <a:srgbClr val="66716D"/>
                </a:solidFill>
              </a:rPr>
              <a:t>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A1126-26C0-4421-9F7F-307F6164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05E07-669C-4BCD-82E2-D44A07E7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EVIDENCE AS OF 2026-07-15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21AAB-F3A8-4799-AB90-E7C034CC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16D"/>
                </a:solidFill>
              </a:defRPr>
            </a:pPr>
            <a:r>
              <a:rPr sz="750" b="0">
                <a:solidFill>
                  <a:srgbClr val="66716D"/>
                </a:solidFill>
              </a:rPr>
              <a:t>09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4DD10-B626-4DDA-9C94-D0207611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57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1E"/>
                </a:solidFill>
              </a:defRPr>
            </a:pPr>
            <a:r>
              <a:rPr sz="3450" b="1">
                <a:solidFill>
                  <a:srgbClr val="17201E"/>
                </a:solidFill>
              </a:rPr>
              <a:t>Approve the evidence boundary—or request a revision with precision.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D7D4A-9B0D-4383-815C-29DBEE0F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6D"/>
                </a:solidFill>
              </a:defRPr>
            </a:pPr>
            <a:r>
              <a:rPr sz="1500" b="0">
                <a:solidFill>
                  <a:srgbClr val="66716D"/>
                </a:solidFill>
              </a:rPr>
              <a:t>Gate 1 accepts evidence and direction. Gate 2 accepts the plan and review-ready assets. Production remains blocked until both decisions and final QA are complete.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524CF-658E-4055-BD9F-F24ADC3F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619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7201E"/>
          </a:solidFill>
          <a:ln xmlns:a="http://schemas.openxmlformats.org/drawingml/2006/main" w="9525">
            <a:solidFill>
              <a:srgbClr val="17201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B1E3E-AE79-432E-985B-F6475584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569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EFA"/>
                </a:solidFill>
              </a:defRPr>
            </a:pPr>
            <a:r>
              <a:rPr sz="1350" b="1">
                <a:solidFill>
                  <a:srgbClr val="FFFEFA"/>
                </a:solidFill>
              </a:rPr>
              <a:t>Current state: PASS_FOR_REVIEW · no production promotion performed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C5746-2C23-4519-97AF-EAD70979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764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39CE0-BAE8-401A-B257-35815A78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15C38"/>
                </a:solidFill>
              </a:defRPr>
            </a:pPr>
            <a:r>
              <a:rPr sz="825" b="1">
                <a:solidFill>
                  <a:srgbClr val="A15C38"/>
                </a:solidFill>
              </a:rPr>
              <a:t>GATE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1AEE6-3A37-40C0-B0A8-CD205A1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Human decision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C4BE8-D23C-4BA7-844D-D341210F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C129B-D324-4F3A-8DB8-281C9E0C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00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GATE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F67EF-E0DF-4307-ACF0-277A3EB3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384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Human decision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25515-BFC0-4526-A83C-1A927D93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2AD72-7421-476F-A811-4BC39B9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90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4C83"/>
                </a:solidFill>
              </a:defRPr>
            </a:pPr>
            <a:r>
              <a:rPr sz="825" b="1">
                <a:solidFill>
                  <a:srgbClr val="3E4C83"/>
                </a:solidFill>
              </a:rPr>
              <a:t>CRITICAL/HIGH QA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FD34A-53D8-4670-9D3E-D01E09F1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E"/>
                </a:solidFill>
              </a:defRPr>
            </a:pPr>
            <a:r>
              <a:rPr sz="1275" b="0">
                <a:solidFill>
                  <a:srgbClr val="17201E"/>
                </a:solidFill>
              </a:rPr>
              <a:t>0 / 0</a:t>
            </a:r>
          </a:p>
        </p:txBody>
      </p:sp>
    </p:spTree>
    <p:extLst>
      <p:ext uri="{BB962C8B-B14F-4D97-AF65-F5344CB8AC3E}">
        <p14:creationId xmlns:p14="http://schemas.microsoft.com/office/powerpoint/2010/main" val="564129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2026-07-16T07:22:08.3860000Z</dcterms:created>
  <dcterms:modified xsi:type="dcterms:W3CDTF">2026-07-16T07:22:08.3870000Z</dcterms:modified>
</coreProperties>
</file>